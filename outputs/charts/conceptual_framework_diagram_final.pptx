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880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7040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Framework — Welfare Delivery Gap Analysis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PM-KISAN · MGNREGA · PMAY-G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749808"/>
            <a:ext cx="2377440" cy="475488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749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PM-KISAN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" y="9875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₹6,000/yr · DBT to farmers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108960" y="749808"/>
            <a:ext cx="2377440" cy="47548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749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MGNREGA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9875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days wage entitlement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035040" y="749808"/>
            <a:ext cx="2377440" cy="475488"/>
          </a:xfrm>
          <a:prstGeom prst="rect">
            <a:avLst/>
          </a:prstGeom>
          <a:solidFill>
            <a:srgbClr val="7B2C2C"/>
          </a:solidFill>
          <a:ln w="12700">
            <a:solidFill>
              <a:srgbClr val="7B2C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749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PMAY-G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9875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₹1.2–1.4L housing subsidy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8288" y="137160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itlement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8288" y="2212848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2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istered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8288" y="3054096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3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Receipt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82880" y="1344168"/>
            <a:ext cx="2377440" cy="530352"/>
          </a:xfrm>
          <a:prstGeom prst="rect">
            <a:avLst/>
          </a:prstGeom>
          <a:solidFill>
            <a:srgbClr val="E8F5EE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13716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Farmers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82880" y="1563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Land-owning households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SECC 2011 + land records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82880" y="2185416"/>
            <a:ext cx="2377440" cy="530352"/>
          </a:xfrm>
          <a:prstGeom prst="rect">
            <a:avLst/>
          </a:prstGeom>
          <a:solidFill>
            <a:srgbClr val="D0EAD8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22128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Beneficiaries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82880" y="24048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 in PM-KISAN MIS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Aadhaar-linked bank a/c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82880" y="3026664"/>
            <a:ext cx="2377440" cy="530352"/>
          </a:xfrm>
          <a:prstGeom prst="rect">
            <a:avLst/>
          </a:prstGeom>
          <a:solidFill>
            <a:srgbClr val="B8DBBF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30540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Received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82880" y="3246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instalments credited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beneficiary account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108960" y="1344168"/>
            <a:ext cx="2377440" cy="530352"/>
          </a:xfrm>
          <a:prstGeom prst="rect">
            <a:avLst/>
          </a:prstGeom>
          <a:solidFill>
            <a:srgbClr val="EAF2FB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0" y="13716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Rural HHs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108960" y="1563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demanding work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legal entitlement (Sec.3)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108960" y="2185416"/>
            <a:ext cx="2377440" cy="530352"/>
          </a:xfrm>
          <a:prstGeom prst="rect">
            <a:avLst/>
          </a:prstGeom>
          <a:solidFill>
            <a:srgbClr val="CEE3F5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0" y="22128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Card Holders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108960" y="24048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in MGNREGA MIS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active job cards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108960" y="3026664"/>
            <a:ext cx="2377440" cy="530352"/>
          </a:xfrm>
          <a:prstGeom prst="rect">
            <a:avLst/>
          </a:prstGeom>
          <a:solidFill>
            <a:srgbClr val="B0D2ED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0" y="30540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Wages Received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108960" y="3246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Person-days worked &amp; wages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credited within 15-day limit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035040" y="1344168"/>
            <a:ext cx="2377440" cy="530352"/>
          </a:xfrm>
          <a:prstGeom prst="rect">
            <a:avLst/>
          </a:prstGeom>
          <a:solidFill>
            <a:srgbClr val="FDEAEA"/>
          </a:solidFill>
          <a:ln w="12700">
            <a:solidFill>
              <a:srgbClr val="7B2C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0" y="13716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Households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035040" y="1563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SECC-identified houseless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kutcha house dwellers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035040" y="2185416"/>
            <a:ext cx="2377440" cy="530352"/>
          </a:xfrm>
          <a:prstGeom prst="rect">
            <a:avLst/>
          </a:prstGeom>
          <a:solidFill>
            <a:srgbClr val="F7CECE"/>
          </a:solidFill>
          <a:ln w="12700">
            <a:solidFill>
              <a:srgbClr val="7B2C2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22128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Beneficiaries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035040" y="24048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in AwaasSoft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geo-tagged house site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035040" y="3026664"/>
            <a:ext cx="2377440" cy="530352"/>
          </a:xfrm>
          <a:prstGeom prst="rect">
            <a:avLst/>
          </a:prstGeom>
          <a:solidFill>
            <a:srgbClr val="F0B0B0"/>
          </a:solidFill>
          <a:ln w="12700">
            <a:solidFill>
              <a:srgbClr val="7B2C2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0" y="30540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Instalments Received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035040" y="3246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completed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final tranche credited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234440" y="1883664"/>
            <a:ext cx="274320" cy="20116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234440" y="188366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234440" y="2724912"/>
            <a:ext cx="274320" cy="20116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234440" y="272491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60520" y="1883664"/>
            <a:ext cx="274320" cy="20116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60520" y="188366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60520" y="2724912"/>
            <a:ext cx="274320" cy="20116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60520" y="272491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086600" y="1883664"/>
            <a:ext cx="274320" cy="20116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86600" y="188366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086600" y="2724912"/>
            <a:ext cx="274320" cy="20116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86600" y="272491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430768" y="1737360"/>
            <a:ext cx="658368" cy="493776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30768" y="174650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8430768" y="1901952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Error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8430768" y="204825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→ not registered</a:t>
            </a:r>
            <a:endParaRPr lang="en-US" sz="550" dirty="0"/>
          </a:p>
        </p:txBody>
      </p:sp>
      <p:sp>
        <p:nvSpPr>
          <p:cNvPr id="60" name="Shape 58"/>
          <p:cNvSpPr/>
          <p:nvPr/>
        </p:nvSpPr>
        <p:spPr>
          <a:xfrm>
            <a:off x="8430768" y="2578608"/>
            <a:ext cx="658368" cy="493776"/>
          </a:xfrm>
          <a:prstGeom prst="rect">
            <a:avLst/>
          </a:prstGeom>
          <a:solidFill>
            <a:srgbClr val="EAF2FB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30768" y="258775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8430768" y="2743200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Failure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8430768" y="288950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→ not receiving</a:t>
            </a:r>
            <a:endParaRPr lang="en-US" sz="550" dirty="0"/>
          </a:p>
        </p:txBody>
      </p:sp>
      <p:sp>
        <p:nvSpPr>
          <p:cNvPr id="64" name="Shape 62"/>
          <p:cNvSpPr/>
          <p:nvPr/>
        </p:nvSpPr>
        <p:spPr>
          <a:xfrm>
            <a:off x="457200" y="2176272"/>
            <a:ext cx="7680960" cy="530352"/>
          </a:xfrm>
          <a:prstGeom prst="rect">
            <a:avLst/>
          </a:prstGeom>
          <a:solidFill>
            <a:srgbClr val="FFFBEA"/>
          </a:solidFill>
          <a:ln w="12700">
            <a:solidFill>
              <a:srgbClr val="E67E22"/>
            </a:solidFill>
            <a:prstDash val="dash"/>
          </a:ln>
        </p:spPr>
      </p:sp>
      <p:sp>
        <p:nvSpPr>
          <p:cNvPr id="65" name="Text 63"/>
          <p:cNvSpPr/>
          <p:nvPr/>
        </p:nvSpPr>
        <p:spPr>
          <a:xfrm>
            <a:off x="749808" y="22128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7D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BOX 4 — INCLUSION ERROR: Ghost / ineligible beneficiaries exist INSIDE Box 2 (e.g. 9 deceased PM-KISAN recipients, inflated MGNREGA muster rolls, ineligible PMAY-G sanctions)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274320" y="3712464"/>
            <a:ext cx="859536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4320" y="373075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EFFICIENCY SCORE (DES)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274320" y="39136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index combining Gap A (exclusion error) + Gap B (payment failure) + Inclusion Error rate · Normalised 0–100 · Ranked across 28+ Indian states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274320" y="411480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All three failure types feed into the DES · Lower score = worse delivery · Output: state ranking table + Power BI dashboard + policy brief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1362456" y="356616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288536" y="356616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7214616" y="356616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256</Words>
  <Application>Microsoft Office PowerPoint</Application>
  <PresentationFormat>On-screen Show (16:9)</PresentationFormat>
  <Paragraphs>60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Geetika C</cp:lastModifiedBy>
  <cp:revision>2</cp:revision>
  <dcterms:created xsi:type="dcterms:W3CDTF">2026-07-29T05:58:57Z</dcterms:created>
  <dcterms:modified xsi:type="dcterms:W3CDTF">2026-07-29T06:04:12Z</dcterms:modified>
</cp:coreProperties>
</file>